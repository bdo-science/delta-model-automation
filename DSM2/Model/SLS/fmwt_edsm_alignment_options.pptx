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58" r:id="rId6"/>
    <p:sldId id="264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2BE"/>
    <a:srgbClr val="B8E6FD"/>
    <a:srgbClr val="FDEDCB"/>
    <a:srgbClr val="B1B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75" d="100"/>
          <a:sy n="75" d="100"/>
        </p:scale>
        <p:origin x="1037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0191E-1D00-AA97-37BC-B5DA8296B3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94DC94-911C-BD48-E9AC-0C8563927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1F1B0-210C-D272-96AE-96594B6B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3F1E0-6967-8889-040C-89B427F00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38E10-275A-FDC0-65A3-0922D9B9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71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5E10-CBD2-ADD2-B747-B8F0E1C5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846B8-8A81-C6D5-A1F6-47C4EFFB7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5A0E6-FE66-D6E3-4329-B0C5CA66C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0C190-2DFD-E01B-CF9F-C9EBA9B7D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E3ED2-949A-B90C-EE12-EB9DB137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482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82E6-E8E5-1705-EC89-38C401C5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FF68B-9621-DB65-D670-203B4FA74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74470-B68E-EE06-199A-5FAF4C01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E3E4B-833E-4CA3-9BDE-580A4518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D6D94-D808-C4A4-E38C-05FDA1D93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060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E9CA-0481-FCD8-D500-EF7DEA081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F852D-EAAA-8E12-C164-61FB13CD59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E34DC-6471-A80F-EA75-7777F14047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2941A-920B-91B3-1440-0A8449293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FC843-B015-BB12-57FA-02BD17D0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C8D5E-75DE-AC96-9654-D97346DA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00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BFE57-BE87-2BAC-13B1-1A1976D09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D285F-8FA2-CB00-C937-D17772938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AC957-47AD-CD1A-47FC-B0E6BBDFE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BB12A4-076C-8C92-8580-FE42B5338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7F190D-1E02-3454-1BEA-78162C079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212CBE-0A3A-7DC3-4290-0633CDE6E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6A8B85-73BF-8E76-71F3-E20C08B9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68013C-2C33-9759-BD31-4BAA0075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97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40CF0-C877-7E89-12E1-9F1F089C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E83E0C-E8F7-0940-7162-53949F3EA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051697-2A35-1434-2B3E-1DBA8F70F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4E87B-2D33-FC25-C508-B196D408F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56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24EF27-7C37-C51F-763F-6AD23FAA4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1EF3B-5728-8F09-0545-7106D5B13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E2E9B-5BA6-B0C9-EBCF-2965FE67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35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5A003-6441-ED4F-9A69-2DD352095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F8FCC-119A-9167-1E75-222ECB2CB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6963B-D3DC-9510-E744-5432C3343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2BC62-CA6E-21FA-E510-B4FFE48EF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950B2-5D63-13A8-70E5-02CCCAB90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0F5D2-45F1-8488-99B6-F3E77D39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162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9D1B-6455-AA1D-2DF5-33D9C1C4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EDF0B5-B6B5-F0BD-4DBA-BFC287C4A0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7F35F2-75F0-7028-E9A9-8F0F058F5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BF776-A664-479E-E6FD-3239795D3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FF142-FF22-966F-06DF-A9D2B9FEB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9843E6-41A1-8A36-A8BB-3000C1ECC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354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E72B-0B9D-915C-46AF-6EFFDA55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FAFD4-DA6C-6EBB-32A6-0F62AC8AB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80FCE-1FA3-B8BA-0E44-1DC1B4CD5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76A4A-1766-7EB3-FF4F-12E3CE2BF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64593-72AF-85E7-A09A-BBE529867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9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9A2C9-29AA-E664-FFE2-F1C2DE7FE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720FC-85A7-7366-4952-6711BE096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F3100-EA4B-2518-68D7-6271E0D7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1745E-8A8C-C8E4-D39B-A1D4BEEDA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0090D-A740-F378-4BF7-DE91B407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689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380148-21AB-3C72-37C9-A0AC83F04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2FA54-26BD-C615-1E66-C6F2F9DA5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7DD55-35BD-E135-3724-21C5A88F8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B33C0D-4F61-4AE1-B28F-BBBAB8006EA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90028-5257-4543-E486-DA055BF86F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CB0E8-850A-05EC-4BBB-29DD383ED4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B6BB6E-E225-46F0-9847-E94B914392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0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F86B8A6-A9C5-C52F-94AC-3AD358177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72" y="430572"/>
            <a:ext cx="439864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A44E53-0C51-62A1-53B0-F8B0B2EC41D3}"/>
              </a:ext>
            </a:extLst>
          </p:cNvPr>
          <p:cNvSpPr txBox="1"/>
          <p:nvPr/>
        </p:nvSpPr>
        <p:spPr>
          <a:xfrm>
            <a:off x="2062196" y="0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CURRENT 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BD12C-8143-2812-DFAD-F9727CC36FE4}"/>
              </a:ext>
            </a:extLst>
          </p:cNvPr>
          <p:cNvSpPr txBox="1"/>
          <p:nvPr/>
        </p:nvSpPr>
        <p:spPr>
          <a:xfrm>
            <a:off x="7698712" y="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EDSM MAP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057B27-1D23-AE8A-E7D9-5D4A3A78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30572"/>
            <a:ext cx="4398645" cy="622195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CB0AF27-71A4-97E7-D7D3-CAC9D73C9B02}"/>
              </a:ext>
            </a:extLst>
          </p:cNvPr>
          <p:cNvSpPr/>
          <p:nvPr/>
        </p:nvSpPr>
        <p:spPr>
          <a:xfrm>
            <a:off x="3868969" y="3276217"/>
            <a:ext cx="1134959" cy="1213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F33382B-64BA-C8D0-16B5-76FA0060DDF9}"/>
              </a:ext>
            </a:extLst>
          </p:cNvPr>
          <p:cNvSpPr/>
          <p:nvPr/>
        </p:nvSpPr>
        <p:spPr>
          <a:xfrm>
            <a:off x="8983942" y="3276216"/>
            <a:ext cx="1134959" cy="1213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1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1CEA3-4CE6-5C53-950C-7AC6DFF99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3B5AE5-0B62-3B4B-C5CD-E49608F276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86"/>
          <a:stretch>
            <a:fillRect/>
          </a:stretch>
        </p:blipFill>
        <p:spPr>
          <a:xfrm>
            <a:off x="137653" y="921080"/>
            <a:ext cx="6603286" cy="5366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DADCF7-4C13-78DB-E7EF-E558B667B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26" r="79727" b="37329"/>
          <a:stretch>
            <a:fillRect/>
          </a:stretch>
        </p:blipFill>
        <p:spPr>
          <a:xfrm>
            <a:off x="321186" y="1423808"/>
            <a:ext cx="2424964" cy="19481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864BDCE-3A12-2EFC-2956-EABA145BD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905"/>
          <a:stretch>
            <a:fillRect/>
          </a:stretch>
        </p:blipFill>
        <p:spPr bwMode="auto">
          <a:xfrm>
            <a:off x="1130710" y="528267"/>
            <a:ext cx="5629893" cy="59763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049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3D759-812D-53C5-EE8D-1A988AB5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F93B4A-08ED-F448-DB5E-B46DA5726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26" r="79727" b="37329"/>
          <a:stretch>
            <a:fillRect/>
          </a:stretch>
        </p:blipFill>
        <p:spPr>
          <a:xfrm>
            <a:off x="321186" y="1423808"/>
            <a:ext cx="2424964" cy="194810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846D2F-14D7-DBBF-6199-DFB5724DD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86"/>
          <a:stretch>
            <a:fillRect/>
          </a:stretch>
        </p:blipFill>
        <p:spPr>
          <a:xfrm>
            <a:off x="2992004" y="421888"/>
            <a:ext cx="6968073" cy="56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34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AB77D-C31E-7208-EF28-62BFAA59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442FC4E-9F41-42EB-DDEA-BA5C1DFD2319}"/>
              </a:ext>
            </a:extLst>
          </p:cNvPr>
          <p:cNvSpPr txBox="1"/>
          <p:nvPr/>
        </p:nvSpPr>
        <p:spPr>
          <a:xfrm>
            <a:off x="4867021" y="88490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Proposed Option #1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47B86E-FB86-77BD-2414-7B9273546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86"/>
          <a:stretch>
            <a:fillRect/>
          </a:stretch>
        </p:blipFill>
        <p:spPr>
          <a:xfrm>
            <a:off x="137653" y="921080"/>
            <a:ext cx="6603286" cy="5366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1DE31-4F81-C784-FCE5-505CEDFFC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26" r="79727" b="37329"/>
          <a:stretch>
            <a:fillRect/>
          </a:stretch>
        </p:blipFill>
        <p:spPr>
          <a:xfrm>
            <a:off x="321186" y="1423808"/>
            <a:ext cx="2424964" cy="194810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DB7014C5-F544-5EA2-9D50-49CFC04318DA}"/>
              </a:ext>
            </a:extLst>
          </p:cNvPr>
          <p:cNvSpPr/>
          <p:nvPr/>
        </p:nvSpPr>
        <p:spPr>
          <a:xfrm>
            <a:off x="3697856" y="3065795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8D71F7-2413-74DE-5CF5-1F5C8C957365}"/>
              </a:ext>
            </a:extLst>
          </p:cNvPr>
          <p:cNvSpPr/>
          <p:nvPr/>
        </p:nvSpPr>
        <p:spPr>
          <a:xfrm>
            <a:off x="4116035" y="3371912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0C9260C-5FF6-F5E8-6265-3B79276D0993}"/>
              </a:ext>
            </a:extLst>
          </p:cNvPr>
          <p:cNvSpPr/>
          <p:nvPr/>
        </p:nvSpPr>
        <p:spPr>
          <a:xfrm>
            <a:off x="4699872" y="2423028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569C0F8-FF23-C488-8B6E-0786609D1722}"/>
              </a:ext>
            </a:extLst>
          </p:cNvPr>
          <p:cNvSpPr/>
          <p:nvPr/>
        </p:nvSpPr>
        <p:spPr>
          <a:xfrm>
            <a:off x="4616298" y="3803215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EF1E22C-1A9E-4548-4787-8F717B3D6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334400"/>
              </p:ext>
            </p:extLst>
          </p:nvPr>
        </p:nvGraphicFramePr>
        <p:xfrm>
          <a:off x="6924472" y="969656"/>
          <a:ext cx="4766084" cy="3580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693">
                  <a:extLst>
                    <a:ext uri="{9D8B030D-6E8A-4147-A177-3AD203B41FA5}">
                      <a16:colId xmlns:a16="http://schemas.microsoft.com/office/drawing/2014/main" val="1688056777"/>
                    </a:ext>
                  </a:extLst>
                </a:gridCol>
                <a:gridCol w="1534887">
                  <a:extLst>
                    <a:ext uri="{9D8B030D-6E8A-4147-A177-3AD203B41FA5}">
                      <a16:colId xmlns:a16="http://schemas.microsoft.com/office/drawing/2014/main" val="1174309868"/>
                    </a:ext>
                  </a:extLst>
                </a:gridCol>
                <a:gridCol w="1463752">
                  <a:extLst>
                    <a:ext uri="{9D8B030D-6E8A-4147-A177-3AD203B41FA5}">
                      <a16:colId xmlns:a16="http://schemas.microsoft.com/office/drawing/2014/main" val="3985609710"/>
                    </a:ext>
                  </a:extLst>
                </a:gridCol>
                <a:gridCol w="1463752">
                  <a:extLst>
                    <a:ext uri="{9D8B030D-6E8A-4147-A177-3AD203B41FA5}">
                      <a16:colId xmlns:a16="http://schemas.microsoft.com/office/drawing/2014/main" val="1511975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EDSM Strata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Entrainment Analysis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DSM2 node adjustment?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790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Cache Slough/ Liberty Island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Sacramento/North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788616"/>
                  </a:ext>
                </a:extLst>
              </a:tr>
              <a:tr h="27314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Upper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6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Sac Deep Water Shipping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94213"/>
                  </a:ext>
                </a:extLst>
              </a:tr>
              <a:tr h="288873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East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115455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Suisun Bay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Suisun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64936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Suisun Marsh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199411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084096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Lower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Lower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342208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Lower San Joaquin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Lower San Joaquin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383069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Southern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Southern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445838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7FE160A0-06ED-463D-635A-1EF3782EAE9D}"/>
              </a:ext>
            </a:extLst>
          </p:cNvPr>
          <p:cNvSpPr/>
          <p:nvPr/>
        </p:nvSpPr>
        <p:spPr>
          <a:xfrm>
            <a:off x="5122660" y="3970363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276C925-6761-908E-1550-D4E441603596}"/>
              </a:ext>
            </a:extLst>
          </p:cNvPr>
          <p:cNvSpPr/>
          <p:nvPr/>
        </p:nvSpPr>
        <p:spPr>
          <a:xfrm>
            <a:off x="2394208" y="4662378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0B492C9-0C73-CE59-CE42-4A3313F8D5CE}"/>
              </a:ext>
            </a:extLst>
          </p:cNvPr>
          <p:cNvSpPr/>
          <p:nvPr/>
        </p:nvSpPr>
        <p:spPr>
          <a:xfrm>
            <a:off x="2662576" y="4137511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9FCD9F-4EAF-3AC9-FF04-FD506EB34058}"/>
              </a:ext>
            </a:extLst>
          </p:cNvPr>
          <p:cNvSpPr/>
          <p:nvPr/>
        </p:nvSpPr>
        <p:spPr>
          <a:xfrm>
            <a:off x="1533668" y="4662378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E3050A1-F413-6A6D-0FF5-AB138B66EE54}"/>
              </a:ext>
            </a:extLst>
          </p:cNvPr>
          <p:cNvSpPr/>
          <p:nvPr/>
        </p:nvSpPr>
        <p:spPr>
          <a:xfrm>
            <a:off x="3614282" y="4550369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14AAF2-E4FE-392D-67B0-31B53BB12D48}"/>
              </a:ext>
            </a:extLst>
          </p:cNvPr>
          <p:cNvSpPr/>
          <p:nvPr/>
        </p:nvSpPr>
        <p:spPr>
          <a:xfrm>
            <a:off x="3826602" y="4899414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DA0DA1C-D977-0F14-B836-891DDB1E8717}"/>
              </a:ext>
            </a:extLst>
          </p:cNvPr>
          <p:cNvSpPr/>
          <p:nvPr/>
        </p:nvSpPr>
        <p:spPr>
          <a:xfrm>
            <a:off x="5000992" y="5128752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3942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4686D-8C8E-A949-7A5D-8CA93D83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607BCB-F97A-1EE3-A629-B5FCCF06B5AA}"/>
              </a:ext>
            </a:extLst>
          </p:cNvPr>
          <p:cNvSpPr txBox="1"/>
          <p:nvPr/>
        </p:nvSpPr>
        <p:spPr>
          <a:xfrm>
            <a:off x="4867021" y="88490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Proposed Option #2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4C9CFE-6736-7672-CA8B-084C80DB21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86"/>
          <a:stretch>
            <a:fillRect/>
          </a:stretch>
        </p:blipFill>
        <p:spPr>
          <a:xfrm>
            <a:off x="137653" y="921080"/>
            <a:ext cx="6603286" cy="53660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D0E5F9-CEA1-6AA9-05AC-071939607D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026" r="79727" b="37329"/>
          <a:stretch>
            <a:fillRect/>
          </a:stretch>
        </p:blipFill>
        <p:spPr>
          <a:xfrm>
            <a:off x="321186" y="1423808"/>
            <a:ext cx="2424964" cy="1948104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8A70689-7096-0E83-7E15-E29CD4189FCD}"/>
              </a:ext>
            </a:extLst>
          </p:cNvPr>
          <p:cNvSpPr/>
          <p:nvPr/>
        </p:nvSpPr>
        <p:spPr>
          <a:xfrm>
            <a:off x="3697856" y="3065795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3B9361-700B-4F5D-A230-449941C44A89}"/>
              </a:ext>
            </a:extLst>
          </p:cNvPr>
          <p:cNvSpPr/>
          <p:nvPr/>
        </p:nvSpPr>
        <p:spPr>
          <a:xfrm>
            <a:off x="4116035" y="3371912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FAA0E87-3EA7-E69E-5182-26802DD39EBA}"/>
              </a:ext>
            </a:extLst>
          </p:cNvPr>
          <p:cNvSpPr/>
          <p:nvPr/>
        </p:nvSpPr>
        <p:spPr>
          <a:xfrm>
            <a:off x="4699872" y="2423028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839C84-EA18-1A64-A274-E468F6B11E4E}"/>
              </a:ext>
            </a:extLst>
          </p:cNvPr>
          <p:cNvSpPr/>
          <p:nvPr/>
        </p:nvSpPr>
        <p:spPr>
          <a:xfrm>
            <a:off x="4616298" y="3803215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943ABCB-F30D-C123-D0AD-8A5E632EF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503232"/>
              </p:ext>
            </p:extLst>
          </p:nvPr>
        </p:nvGraphicFramePr>
        <p:xfrm>
          <a:off x="6924472" y="969656"/>
          <a:ext cx="4766084" cy="5775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693">
                  <a:extLst>
                    <a:ext uri="{9D8B030D-6E8A-4147-A177-3AD203B41FA5}">
                      <a16:colId xmlns:a16="http://schemas.microsoft.com/office/drawing/2014/main" val="1688056777"/>
                    </a:ext>
                  </a:extLst>
                </a:gridCol>
                <a:gridCol w="1534887">
                  <a:extLst>
                    <a:ext uri="{9D8B030D-6E8A-4147-A177-3AD203B41FA5}">
                      <a16:colId xmlns:a16="http://schemas.microsoft.com/office/drawing/2014/main" val="1174309868"/>
                    </a:ext>
                  </a:extLst>
                </a:gridCol>
                <a:gridCol w="1463752">
                  <a:extLst>
                    <a:ext uri="{9D8B030D-6E8A-4147-A177-3AD203B41FA5}">
                      <a16:colId xmlns:a16="http://schemas.microsoft.com/office/drawing/2014/main" val="3985609710"/>
                    </a:ext>
                  </a:extLst>
                </a:gridCol>
                <a:gridCol w="1463752">
                  <a:extLst>
                    <a:ext uri="{9D8B030D-6E8A-4147-A177-3AD203B41FA5}">
                      <a16:colId xmlns:a16="http://schemas.microsoft.com/office/drawing/2014/main" val="1511975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EDSM Strata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Entrainment Analysis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DSM2 node adjustment?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7790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Cache Slough/ Liberty Island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Sacramento/North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788616"/>
                  </a:ext>
                </a:extLst>
              </a:tr>
              <a:tr h="273141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Upper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66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Sac Deep Water Shipping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94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Portion of Lower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807249"/>
                  </a:ext>
                </a:extLst>
              </a:tr>
              <a:tr h="288873">
                <a:tc>
                  <a:txBody>
                    <a:bodyPr/>
                    <a:lstStyle/>
                    <a:p>
                      <a:r>
                        <a:rPr lang="en-US" sz="1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East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115455"/>
                  </a:ext>
                </a:extLst>
              </a:tr>
              <a:tr h="288873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Portion of Southern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639483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Suisun Bay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Suisun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764936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Suisun Marsh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199411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West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084096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Portion of Lower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Confluence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6342208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Portion of Lower San Joaquin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191326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Portion of Lower San Joaquin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Central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383069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Portion of Lower San Joaquin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594783"/>
                  </a:ext>
                </a:extLst>
              </a:tr>
              <a:tr h="216310">
                <a:tc>
                  <a:txBody>
                    <a:bodyPr/>
                    <a:lstStyle/>
                    <a:p>
                      <a:r>
                        <a:rPr lang="en-US" sz="12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Southern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South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445838"/>
                  </a:ext>
                </a:extLst>
              </a:tr>
            </a:tbl>
          </a:graphicData>
        </a:graphic>
      </p:graphicFrame>
      <p:sp>
        <p:nvSpPr>
          <p:cNvPr id="2" name="Oval 1">
            <a:extLst>
              <a:ext uri="{FF2B5EF4-FFF2-40B4-BE49-F238E27FC236}">
                <a16:creationId xmlns:a16="http://schemas.microsoft.com/office/drawing/2014/main" id="{C52176B4-30B3-ECE6-E6A3-CDBF0F71D2ED}"/>
              </a:ext>
            </a:extLst>
          </p:cNvPr>
          <p:cNvSpPr/>
          <p:nvPr/>
        </p:nvSpPr>
        <p:spPr>
          <a:xfrm>
            <a:off x="5122660" y="3970363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D602AD0-9E4B-67E0-7D8C-7AF5C8DC74CF}"/>
              </a:ext>
            </a:extLst>
          </p:cNvPr>
          <p:cNvSpPr/>
          <p:nvPr/>
        </p:nvSpPr>
        <p:spPr>
          <a:xfrm>
            <a:off x="2394208" y="4662378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926DA9-725E-586E-A8C6-B57C4480B321}"/>
              </a:ext>
            </a:extLst>
          </p:cNvPr>
          <p:cNvSpPr/>
          <p:nvPr/>
        </p:nvSpPr>
        <p:spPr>
          <a:xfrm>
            <a:off x="2662576" y="4137511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15248CD-8E39-FBE6-9050-C41691987500}"/>
              </a:ext>
            </a:extLst>
          </p:cNvPr>
          <p:cNvSpPr/>
          <p:nvPr/>
        </p:nvSpPr>
        <p:spPr>
          <a:xfrm>
            <a:off x="1533668" y="4662378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4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876F81-AE8A-C3D9-EBDF-2959612AB0AE}"/>
              </a:ext>
            </a:extLst>
          </p:cNvPr>
          <p:cNvSpPr/>
          <p:nvPr/>
        </p:nvSpPr>
        <p:spPr>
          <a:xfrm>
            <a:off x="3614282" y="4550369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8A250EF-3ED7-B1B6-84E0-8BCD6B8F9E73}"/>
              </a:ext>
            </a:extLst>
          </p:cNvPr>
          <p:cNvSpPr/>
          <p:nvPr/>
        </p:nvSpPr>
        <p:spPr>
          <a:xfrm>
            <a:off x="3826602" y="4899414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2BF18E4-AC8E-2F0B-3442-79005222341B}"/>
              </a:ext>
            </a:extLst>
          </p:cNvPr>
          <p:cNvSpPr/>
          <p:nvPr/>
        </p:nvSpPr>
        <p:spPr>
          <a:xfrm>
            <a:off x="5000992" y="5128752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7A1AE0-5575-EA66-A033-55DB5B72DE4F}"/>
              </a:ext>
            </a:extLst>
          </p:cNvPr>
          <p:cNvSpPr/>
          <p:nvPr/>
        </p:nvSpPr>
        <p:spPr>
          <a:xfrm>
            <a:off x="4400425" y="4827560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B5FA9F6-A144-8C53-F0E8-0CE1952E4F84}"/>
              </a:ext>
            </a:extLst>
          </p:cNvPr>
          <p:cNvSpPr/>
          <p:nvPr/>
        </p:nvSpPr>
        <p:spPr>
          <a:xfrm>
            <a:off x="3968604" y="4304659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E0DE35C-7ED0-0B64-1661-CFD95A1E3E54}"/>
              </a:ext>
            </a:extLst>
          </p:cNvPr>
          <p:cNvSpPr/>
          <p:nvPr/>
        </p:nvSpPr>
        <p:spPr>
          <a:xfrm>
            <a:off x="4248078" y="4345209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8EA119-983F-2636-97D8-BF7EFEF67228}"/>
              </a:ext>
            </a:extLst>
          </p:cNvPr>
          <p:cNvSpPr/>
          <p:nvPr/>
        </p:nvSpPr>
        <p:spPr>
          <a:xfrm>
            <a:off x="4750782" y="4633943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6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8EFF20E-7F68-0F7C-E287-0BB055BC9D87}"/>
              </a:ext>
            </a:extLst>
          </p:cNvPr>
          <p:cNvSpPr/>
          <p:nvPr/>
        </p:nvSpPr>
        <p:spPr>
          <a:xfrm>
            <a:off x="4658504" y="4961604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EEC1DB-3B85-9713-F30D-16B1F1A4814A}"/>
              </a:ext>
            </a:extLst>
          </p:cNvPr>
          <p:cNvSpPr/>
          <p:nvPr/>
        </p:nvSpPr>
        <p:spPr>
          <a:xfrm>
            <a:off x="4686926" y="5388737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879A1D0-C9B3-04BB-E220-7D8FA3F5DBB2}"/>
              </a:ext>
            </a:extLst>
          </p:cNvPr>
          <p:cNvSpPr/>
          <p:nvPr/>
        </p:nvSpPr>
        <p:spPr>
          <a:xfrm>
            <a:off x="4783446" y="5930556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43C9B1-30FA-D4AA-9462-B62A219A65EC}"/>
              </a:ext>
            </a:extLst>
          </p:cNvPr>
          <p:cNvSpPr/>
          <p:nvPr/>
        </p:nvSpPr>
        <p:spPr>
          <a:xfrm>
            <a:off x="5649387" y="5221589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31EFE76-BB1E-C704-E6B3-1B6A7D172AC3}"/>
              </a:ext>
            </a:extLst>
          </p:cNvPr>
          <p:cNvSpPr/>
          <p:nvPr/>
        </p:nvSpPr>
        <p:spPr>
          <a:xfrm>
            <a:off x="5482239" y="4633943"/>
            <a:ext cx="167148" cy="1671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4157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E0399-2707-BDDA-1689-583F2B6C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8CEE936-44FD-BD24-708B-6FB09F2E5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" y="0"/>
            <a:ext cx="4848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713E3D0-4F70-1C29-3C48-B9B0ACCDA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320" y="0"/>
            <a:ext cx="4848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736314-05FB-BAEC-FE17-0CA936A90E34}"/>
              </a:ext>
            </a:extLst>
          </p:cNvPr>
          <p:cNvSpPr txBox="1"/>
          <p:nvPr/>
        </p:nvSpPr>
        <p:spPr>
          <a:xfrm>
            <a:off x="3006184" y="0"/>
            <a:ext cx="24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Proposed New Option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40D0550-2C73-57D5-3DDA-47BD1EF9E70B}"/>
              </a:ext>
            </a:extLst>
          </p:cNvPr>
          <p:cNvSpPr txBox="1"/>
          <p:nvPr/>
        </p:nvSpPr>
        <p:spPr>
          <a:xfrm>
            <a:off x="423708" y="314919"/>
            <a:ext cx="1276311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Sacramento/North Delta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AF098C-E73F-A954-A061-A2C7DC17FD23}"/>
              </a:ext>
            </a:extLst>
          </p:cNvPr>
          <p:cNvSpPr txBox="1"/>
          <p:nvPr/>
        </p:nvSpPr>
        <p:spPr>
          <a:xfrm>
            <a:off x="423707" y="450652"/>
            <a:ext cx="662361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East Delta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5EDC2D-E8C1-BE25-F65C-2286B29BCA31}"/>
              </a:ext>
            </a:extLst>
          </p:cNvPr>
          <p:cNvSpPr txBox="1"/>
          <p:nvPr/>
        </p:nvSpPr>
        <p:spPr>
          <a:xfrm>
            <a:off x="423707" y="600671"/>
            <a:ext cx="487634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Suisun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259E80-5E5A-3E05-0FED-0ABABB4176E9}"/>
              </a:ext>
            </a:extLst>
          </p:cNvPr>
          <p:cNvSpPr txBox="1"/>
          <p:nvPr/>
        </p:nvSpPr>
        <p:spPr>
          <a:xfrm>
            <a:off x="423707" y="750690"/>
            <a:ext cx="675185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West Delta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FA475B-6169-FBDE-B951-3E410197FA03}"/>
              </a:ext>
            </a:extLst>
          </p:cNvPr>
          <p:cNvSpPr txBox="1"/>
          <p:nvPr/>
        </p:nvSpPr>
        <p:spPr>
          <a:xfrm>
            <a:off x="423707" y="886423"/>
            <a:ext cx="1018227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Lower Sacramento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F7FA4E-1686-739D-E834-DCABDE7158F6}"/>
              </a:ext>
            </a:extLst>
          </p:cNvPr>
          <p:cNvSpPr txBox="1"/>
          <p:nvPr/>
        </p:nvSpPr>
        <p:spPr>
          <a:xfrm>
            <a:off x="423706" y="1022156"/>
            <a:ext cx="1003801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Lower San Joaquin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A06A54D-F4E9-A0B1-594B-D6B85284F115}"/>
              </a:ext>
            </a:extLst>
          </p:cNvPr>
          <p:cNvSpPr txBox="1"/>
          <p:nvPr/>
        </p:nvSpPr>
        <p:spPr>
          <a:xfrm>
            <a:off x="430919" y="1157889"/>
            <a:ext cx="707245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South Delta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E20F52E-E4B5-0321-281D-873E3014789A}"/>
              </a:ext>
            </a:extLst>
          </p:cNvPr>
          <p:cNvGraphicFramePr>
            <a:graphicFrameLocks noGrp="1"/>
          </p:cNvGraphicFramePr>
          <p:nvPr/>
        </p:nvGraphicFramePr>
        <p:xfrm>
          <a:off x="9244847" y="223427"/>
          <a:ext cx="1341120" cy="647622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21920174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1433738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14015794"/>
                    </a:ext>
                  </a:extLst>
                </a:gridCol>
              </a:tblGrid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DSM2</a:t>
                      </a:r>
                    </a:p>
                  </a:txBody>
                  <a:tcPr marL="13770" marR="13770" marT="6885" marB="6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PTM emulator</a:t>
                      </a:r>
                    </a:p>
                  </a:txBody>
                  <a:tcPr marL="13770" marR="13770" marT="6885" marB="6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SLS station</a:t>
                      </a:r>
                    </a:p>
                  </a:txBody>
                  <a:tcPr marL="13770" marR="13770" marT="6885" marB="6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63324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643928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96744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912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48031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25973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29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910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09128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34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906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3738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815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62054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41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3177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812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9076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46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804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878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918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655270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86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915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08067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99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902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68386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113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7737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145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914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485550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174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33754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225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901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53261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227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519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111921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232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33475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240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64185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249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919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394608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258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03077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261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1844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272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434011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281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19824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291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3052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307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567297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314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61156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321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86109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323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723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151931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322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716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65315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329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501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32153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330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50505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339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6884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344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06935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350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711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58124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351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707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97776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353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706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52515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354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704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82051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356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508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49672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359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411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123083"/>
                  </a:ext>
                </a:extLst>
              </a:tr>
            </a:tbl>
          </a:graphicData>
        </a:graphic>
      </p:graphicFrame>
      <p:sp>
        <p:nvSpPr>
          <p:cNvPr id="40" name="Rectangle 5">
            <a:extLst>
              <a:ext uri="{FF2B5EF4-FFF2-40B4-BE49-F238E27FC236}">
                <a16:creationId xmlns:a16="http://schemas.microsoft.com/office/drawing/2014/main" id="{3BBF9994-4AE2-E1EE-073A-6F3EDE977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651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9DA982C-78ED-6B1E-E464-B7CD96180303}"/>
              </a:ext>
            </a:extLst>
          </p:cNvPr>
          <p:cNvGraphicFramePr>
            <a:graphicFrameLocks noGrp="1"/>
          </p:cNvGraphicFramePr>
          <p:nvPr/>
        </p:nvGraphicFramePr>
        <p:xfrm>
          <a:off x="10647811" y="4352"/>
          <a:ext cx="1341120" cy="6887700"/>
        </p:xfrm>
        <a:graphic>
          <a:graphicData uri="http://schemas.openxmlformats.org/drawingml/2006/table">
            <a:tbl>
              <a:tblPr/>
              <a:tblGrid>
                <a:gridCol w="335280">
                  <a:extLst>
                    <a:ext uri="{9D8B030D-6E8A-4147-A177-3AD203B41FA5}">
                      <a16:colId xmlns:a16="http://schemas.microsoft.com/office/drawing/2014/main" val="221920174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81433738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114015794"/>
                    </a:ext>
                  </a:extLst>
                </a:gridCol>
              </a:tblGrid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DSM2</a:t>
                      </a:r>
                    </a:p>
                  </a:txBody>
                  <a:tcPr marL="13770" marR="13770" marT="6885" marB="6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PTM emulator</a:t>
                      </a:r>
                    </a:p>
                  </a:txBody>
                  <a:tcPr marL="13770" marR="13770" marT="6885" marB="6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/>
                        <a:t>SLS station</a:t>
                      </a:r>
                    </a:p>
                  </a:txBody>
                  <a:tcPr marL="13770" marR="13770" marT="6885" marB="688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63324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361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405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643928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362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504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96744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365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602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48031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367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418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25973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404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705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709128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420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610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3738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421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609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962054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428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606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83177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459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703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9076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461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878828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462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801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655270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463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520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08067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465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513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68386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469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x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</a:rPr>
                        <a:t>809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7737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404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485550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401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33754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338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453261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336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111921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323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33475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330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64185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322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394608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311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03077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329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1844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335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434011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328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19824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327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3052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?not visible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567297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?not visible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61156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?not visible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86109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349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151931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348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65315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347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32153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346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450505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68844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7069355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343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58124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977766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NA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340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525159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361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405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820513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362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504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496722"/>
                  </a:ext>
                </a:extLst>
              </a:tr>
              <a:tr h="55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365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 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602</a:t>
                      </a:r>
                    </a:p>
                  </a:txBody>
                  <a:tcPr marL="13770" marR="13770" marT="6885" marB="688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123083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BF093384-02E3-200E-9E6A-D2EA1E1D73A6}"/>
              </a:ext>
            </a:extLst>
          </p:cNvPr>
          <p:cNvSpPr txBox="1"/>
          <p:nvPr/>
        </p:nvSpPr>
        <p:spPr>
          <a:xfrm>
            <a:off x="96888" y="4734911"/>
            <a:ext cx="35026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No DSM2 nodes from before shown: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238 (Suisun)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467 (Confluence)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121 (South)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250 (East)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B11F69A-A687-D856-D021-21760BE30D09}"/>
              </a:ext>
            </a:extLst>
          </p:cNvPr>
          <p:cNvSpPr/>
          <p:nvPr/>
        </p:nvSpPr>
        <p:spPr>
          <a:xfrm>
            <a:off x="819901" y="3448202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C43EDBD-8336-AEEE-509D-9A00FE275214}"/>
              </a:ext>
            </a:extLst>
          </p:cNvPr>
          <p:cNvSpPr/>
          <p:nvPr/>
        </p:nvSpPr>
        <p:spPr>
          <a:xfrm>
            <a:off x="1062182" y="335009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D7AA0D2-AEF5-9107-93EF-C997E6BE9D2C}"/>
              </a:ext>
            </a:extLst>
          </p:cNvPr>
          <p:cNvSpPr/>
          <p:nvPr/>
        </p:nvSpPr>
        <p:spPr>
          <a:xfrm>
            <a:off x="1524676" y="2976562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9C41F03-C4FA-3573-0001-F6EB5607218F}"/>
              </a:ext>
            </a:extLst>
          </p:cNvPr>
          <p:cNvSpPr/>
          <p:nvPr/>
        </p:nvSpPr>
        <p:spPr>
          <a:xfrm>
            <a:off x="2313489" y="3265322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4143844-E8D3-EF48-0091-B03923444EF4}"/>
              </a:ext>
            </a:extLst>
          </p:cNvPr>
          <p:cNvSpPr/>
          <p:nvPr/>
        </p:nvSpPr>
        <p:spPr>
          <a:xfrm>
            <a:off x="1727252" y="3448201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934E84E-A48A-3A3E-6D39-7D52BD62128D}"/>
              </a:ext>
            </a:extLst>
          </p:cNvPr>
          <p:cNvSpPr/>
          <p:nvPr/>
        </p:nvSpPr>
        <p:spPr>
          <a:xfrm>
            <a:off x="3238051" y="346153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66F86AD-1D29-232C-C4F2-3ABDCF0817AA}"/>
              </a:ext>
            </a:extLst>
          </p:cNvPr>
          <p:cNvSpPr/>
          <p:nvPr/>
        </p:nvSpPr>
        <p:spPr>
          <a:xfrm>
            <a:off x="2825380" y="317277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B9A9673-87CB-2F43-86EC-89AD06112803}"/>
              </a:ext>
            </a:extLst>
          </p:cNvPr>
          <p:cNvSpPr/>
          <p:nvPr/>
        </p:nvSpPr>
        <p:spPr>
          <a:xfrm>
            <a:off x="2513622" y="3482263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ECD6D6D2-7F87-1D39-E90F-5CEA4A3AB5E4}"/>
              </a:ext>
            </a:extLst>
          </p:cNvPr>
          <p:cNvSpPr/>
          <p:nvPr/>
        </p:nvSpPr>
        <p:spPr>
          <a:xfrm>
            <a:off x="1955824" y="3683279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6108E597-5F05-6890-1177-2376EDD05472}"/>
              </a:ext>
            </a:extLst>
          </p:cNvPr>
          <p:cNvSpPr/>
          <p:nvPr/>
        </p:nvSpPr>
        <p:spPr>
          <a:xfrm>
            <a:off x="2772545" y="3489009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507513F-F0EC-9EAD-F51C-7C34821884F1}"/>
              </a:ext>
            </a:extLst>
          </p:cNvPr>
          <p:cNvSpPr/>
          <p:nvPr/>
        </p:nvSpPr>
        <p:spPr>
          <a:xfrm>
            <a:off x="3002591" y="3760233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00CC89D-8FAD-CD08-CF34-F5923571D944}"/>
              </a:ext>
            </a:extLst>
          </p:cNvPr>
          <p:cNvSpPr/>
          <p:nvPr/>
        </p:nvSpPr>
        <p:spPr>
          <a:xfrm>
            <a:off x="3518416" y="368522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BC85D79-D6FB-159A-4022-226E5ECEE250}"/>
              </a:ext>
            </a:extLst>
          </p:cNvPr>
          <p:cNvSpPr/>
          <p:nvPr/>
        </p:nvSpPr>
        <p:spPr>
          <a:xfrm>
            <a:off x="3057575" y="415147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ECC0E7D-9EB3-1AEC-E54C-699BDB21CA75}"/>
              </a:ext>
            </a:extLst>
          </p:cNvPr>
          <p:cNvSpPr/>
          <p:nvPr/>
        </p:nvSpPr>
        <p:spPr>
          <a:xfrm>
            <a:off x="3391797" y="317277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6CB24DC1-5F9B-61D2-0A51-9EE633A4ECE9}"/>
              </a:ext>
            </a:extLst>
          </p:cNvPr>
          <p:cNvSpPr/>
          <p:nvPr/>
        </p:nvSpPr>
        <p:spPr>
          <a:xfrm>
            <a:off x="3398997" y="258094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6163F12-CE75-7B08-5EAE-3A1B9906DBA4}"/>
              </a:ext>
            </a:extLst>
          </p:cNvPr>
          <p:cNvSpPr/>
          <p:nvPr/>
        </p:nvSpPr>
        <p:spPr>
          <a:xfrm>
            <a:off x="2627654" y="275843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0308056-66C6-330E-CCEB-06E31131E929}"/>
              </a:ext>
            </a:extLst>
          </p:cNvPr>
          <p:cNvSpPr/>
          <p:nvPr/>
        </p:nvSpPr>
        <p:spPr>
          <a:xfrm>
            <a:off x="2725615" y="188452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806F7EF-1408-30AE-682E-21F5196D4C63}"/>
              </a:ext>
            </a:extLst>
          </p:cNvPr>
          <p:cNvSpPr/>
          <p:nvPr/>
        </p:nvSpPr>
        <p:spPr>
          <a:xfrm>
            <a:off x="2552902" y="2445986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1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121D1-AF50-9E1B-EC14-BBC99D24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8AF4BB5-1219-1F3D-A511-4E8122DCE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6" y="0"/>
            <a:ext cx="4848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7ED21C-02F7-9FD7-6A63-3BC7244E875D}"/>
              </a:ext>
            </a:extLst>
          </p:cNvPr>
          <p:cNvSpPr txBox="1"/>
          <p:nvPr/>
        </p:nvSpPr>
        <p:spPr>
          <a:xfrm>
            <a:off x="1295408" y="-18455"/>
            <a:ext cx="246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Proposed New Option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E160C4-75A9-A59C-5DD5-AF2AD41A7595}"/>
              </a:ext>
            </a:extLst>
          </p:cNvPr>
          <p:cNvSpPr txBox="1"/>
          <p:nvPr/>
        </p:nvSpPr>
        <p:spPr>
          <a:xfrm>
            <a:off x="423708" y="314919"/>
            <a:ext cx="1276311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Sacramento/North Delta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3C8F1B-494C-9360-F858-EF6AE9FB4E46}"/>
              </a:ext>
            </a:extLst>
          </p:cNvPr>
          <p:cNvSpPr txBox="1"/>
          <p:nvPr/>
        </p:nvSpPr>
        <p:spPr>
          <a:xfrm>
            <a:off x="423707" y="450652"/>
            <a:ext cx="662361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East Delta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C4975B-304A-766C-D4BE-A8621DF86D6A}"/>
              </a:ext>
            </a:extLst>
          </p:cNvPr>
          <p:cNvSpPr txBox="1"/>
          <p:nvPr/>
        </p:nvSpPr>
        <p:spPr>
          <a:xfrm>
            <a:off x="423707" y="600671"/>
            <a:ext cx="487634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Suisun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FD3E53-C3E7-D62A-49ED-A4E6898CDBDC}"/>
              </a:ext>
            </a:extLst>
          </p:cNvPr>
          <p:cNvSpPr txBox="1"/>
          <p:nvPr/>
        </p:nvSpPr>
        <p:spPr>
          <a:xfrm>
            <a:off x="423707" y="750690"/>
            <a:ext cx="675185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West Delta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840427-6D01-C4E7-3F9B-A90453DC6B66}"/>
              </a:ext>
            </a:extLst>
          </p:cNvPr>
          <p:cNvSpPr txBox="1"/>
          <p:nvPr/>
        </p:nvSpPr>
        <p:spPr>
          <a:xfrm>
            <a:off x="423707" y="886423"/>
            <a:ext cx="1018227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Lower Sacramento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797FF57-67DE-738B-8973-1D43BAA8A9B8}"/>
              </a:ext>
            </a:extLst>
          </p:cNvPr>
          <p:cNvSpPr txBox="1"/>
          <p:nvPr/>
        </p:nvSpPr>
        <p:spPr>
          <a:xfrm>
            <a:off x="423706" y="1022156"/>
            <a:ext cx="1003801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Lower San Joaquin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9AA0EC3-EE41-6FFE-8C7D-9E6316C26571}"/>
              </a:ext>
            </a:extLst>
          </p:cNvPr>
          <p:cNvSpPr txBox="1"/>
          <p:nvPr/>
        </p:nvSpPr>
        <p:spPr>
          <a:xfrm>
            <a:off x="430919" y="1157889"/>
            <a:ext cx="707245" cy="123111"/>
          </a:xfrm>
          <a:prstGeom prst="rect">
            <a:avLst/>
          </a:prstGeom>
          <a:solidFill>
            <a:schemeClr val="bg1"/>
          </a:solidFill>
        </p:spPr>
        <p:txBody>
          <a:bodyPr wrap="none" tIns="0" bIns="0" rtlCol="0">
            <a:spAutoFit/>
          </a:bodyPr>
          <a:lstStyle/>
          <a:p>
            <a:r>
              <a:rPr lang="en-US" sz="800" dirty="0"/>
              <a:t>South Delta</a:t>
            </a:r>
          </a:p>
        </p:txBody>
      </p:sp>
      <p:sp>
        <p:nvSpPr>
          <p:cNvPr id="40" name="Rectangle 5">
            <a:extLst>
              <a:ext uri="{FF2B5EF4-FFF2-40B4-BE49-F238E27FC236}">
                <a16:creationId xmlns:a16="http://schemas.microsoft.com/office/drawing/2014/main" id="{3DA53E92-DE76-B380-76A4-B14AADF8A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1651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F771CA0-997A-F616-063A-BDC649A788CF}"/>
              </a:ext>
            </a:extLst>
          </p:cNvPr>
          <p:cNvSpPr/>
          <p:nvPr/>
        </p:nvSpPr>
        <p:spPr>
          <a:xfrm>
            <a:off x="819901" y="3448202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EC6C7A8-3458-ED5C-0BCB-8FA239AFCB77}"/>
              </a:ext>
            </a:extLst>
          </p:cNvPr>
          <p:cNvSpPr/>
          <p:nvPr/>
        </p:nvSpPr>
        <p:spPr>
          <a:xfrm>
            <a:off x="1062182" y="335009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CE6FFD0-2AE8-6770-CBA7-70DFA13B504E}"/>
              </a:ext>
            </a:extLst>
          </p:cNvPr>
          <p:cNvSpPr/>
          <p:nvPr/>
        </p:nvSpPr>
        <p:spPr>
          <a:xfrm>
            <a:off x="1524676" y="2976562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FB16C1A-39BA-A3E8-4ABE-2072DB887146}"/>
              </a:ext>
            </a:extLst>
          </p:cNvPr>
          <p:cNvSpPr/>
          <p:nvPr/>
        </p:nvSpPr>
        <p:spPr>
          <a:xfrm>
            <a:off x="2313489" y="3265322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CBB05EE4-2EC5-E7AF-3E2C-0FB4B61EEEA0}"/>
              </a:ext>
            </a:extLst>
          </p:cNvPr>
          <p:cNvSpPr/>
          <p:nvPr/>
        </p:nvSpPr>
        <p:spPr>
          <a:xfrm>
            <a:off x="1727252" y="3448201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833DB4C-8E1E-B78D-73CF-DBB4E8702049}"/>
              </a:ext>
            </a:extLst>
          </p:cNvPr>
          <p:cNvSpPr/>
          <p:nvPr/>
        </p:nvSpPr>
        <p:spPr>
          <a:xfrm>
            <a:off x="3238051" y="346153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A910F8A-6207-080C-C859-98DC2C9523B8}"/>
              </a:ext>
            </a:extLst>
          </p:cNvPr>
          <p:cNvSpPr/>
          <p:nvPr/>
        </p:nvSpPr>
        <p:spPr>
          <a:xfrm>
            <a:off x="2825380" y="317277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9CF3959C-A90F-4F21-37F7-0E5941A2A1BE}"/>
              </a:ext>
            </a:extLst>
          </p:cNvPr>
          <p:cNvSpPr/>
          <p:nvPr/>
        </p:nvSpPr>
        <p:spPr>
          <a:xfrm>
            <a:off x="2513622" y="3482263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443E4BB-3B99-A276-DA89-246B10B40920}"/>
              </a:ext>
            </a:extLst>
          </p:cNvPr>
          <p:cNvSpPr/>
          <p:nvPr/>
        </p:nvSpPr>
        <p:spPr>
          <a:xfrm>
            <a:off x="1955824" y="3683279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963B982E-9F2F-37B4-8C2E-AAF74110CF11}"/>
              </a:ext>
            </a:extLst>
          </p:cNvPr>
          <p:cNvSpPr/>
          <p:nvPr/>
        </p:nvSpPr>
        <p:spPr>
          <a:xfrm>
            <a:off x="2772545" y="3489009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67C4B8D-487B-051C-338D-1C8225700BD0}"/>
              </a:ext>
            </a:extLst>
          </p:cNvPr>
          <p:cNvSpPr/>
          <p:nvPr/>
        </p:nvSpPr>
        <p:spPr>
          <a:xfrm>
            <a:off x="3002591" y="3760233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F87AC6C-4AD9-C86C-91F9-9113B82ADB22}"/>
              </a:ext>
            </a:extLst>
          </p:cNvPr>
          <p:cNvSpPr/>
          <p:nvPr/>
        </p:nvSpPr>
        <p:spPr>
          <a:xfrm>
            <a:off x="3518416" y="368522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350E879-D0AD-B5F0-A21E-9F7C10100FC5}"/>
              </a:ext>
            </a:extLst>
          </p:cNvPr>
          <p:cNvSpPr/>
          <p:nvPr/>
        </p:nvSpPr>
        <p:spPr>
          <a:xfrm>
            <a:off x="3057575" y="415147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2C7CE90-01E1-2150-AABE-7B2DBE5A950C}"/>
              </a:ext>
            </a:extLst>
          </p:cNvPr>
          <p:cNvSpPr/>
          <p:nvPr/>
        </p:nvSpPr>
        <p:spPr>
          <a:xfrm>
            <a:off x="3391797" y="317277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12FC3FD3-0275-D988-0DEC-BBB70DAB371F}"/>
              </a:ext>
            </a:extLst>
          </p:cNvPr>
          <p:cNvSpPr/>
          <p:nvPr/>
        </p:nvSpPr>
        <p:spPr>
          <a:xfrm>
            <a:off x="3398997" y="258094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6DB3E3BF-67F9-F444-B6DF-DBBD3EC0192C}"/>
              </a:ext>
            </a:extLst>
          </p:cNvPr>
          <p:cNvSpPr/>
          <p:nvPr/>
        </p:nvSpPr>
        <p:spPr>
          <a:xfrm>
            <a:off x="2627654" y="2758437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33AB834-3F68-F861-5D85-0C72B90F955D}"/>
              </a:ext>
            </a:extLst>
          </p:cNvPr>
          <p:cNvSpPr/>
          <p:nvPr/>
        </p:nvSpPr>
        <p:spPr>
          <a:xfrm>
            <a:off x="2725615" y="1884524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677CFE2-FA21-0DDC-BD36-E8681B4EB74D}"/>
              </a:ext>
            </a:extLst>
          </p:cNvPr>
          <p:cNvSpPr/>
          <p:nvPr/>
        </p:nvSpPr>
        <p:spPr>
          <a:xfrm>
            <a:off x="2552902" y="2445986"/>
            <a:ext cx="241962" cy="19621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351EB25-5EDD-A146-8076-A9E76817D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2306462"/>
              </p:ext>
            </p:extLst>
          </p:nvPr>
        </p:nvGraphicFramePr>
        <p:xfrm>
          <a:off x="4883982" y="1218717"/>
          <a:ext cx="7315200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87386169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31346125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27689859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5145635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683626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LFS Analysis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EDSM 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DSM2 Node(s)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PTM Emulator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Corresponding SLS Station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10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Sacramento/ North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Sac Deep Water Shipping Channel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Cache Slough/Liberty Island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Upper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314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323</a:t>
                      </a:r>
                    </a:p>
                    <a:p>
                      <a:r>
                        <a:rPr lang="en-US" sz="1200" dirty="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314</a:t>
                      </a:r>
                    </a:p>
                    <a:p>
                      <a:r>
                        <a:rPr lang="en-US" sz="1200" dirty="0"/>
                        <a:t>323</a:t>
                      </a:r>
                    </a:p>
                    <a:p>
                      <a:r>
                        <a:rPr lang="en-US" sz="1200" dirty="0"/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</a:t>
                      </a:r>
                    </a:p>
                    <a:p>
                      <a:r>
                        <a:rPr lang="en-US" sz="1200" dirty="0"/>
                        <a:t>723</a:t>
                      </a:r>
                    </a:p>
                    <a:p>
                      <a:r>
                        <a:rPr lang="en-US" sz="1200" dirty="0"/>
                        <a:t>711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6971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Eastern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Eastern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249</a:t>
                      </a:r>
                    </a:p>
                    <a:p>
                      <a:r>
                        <a:rPr lang="en-US" sz="1200" dirty="0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249</a:t>
                      </a:r>
                    </a:p>
                    <a:p>
                      <a:r>
                        <a:rPr lang="en-US" sz="1200" dirty="0"/>
                        <a:t>261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919</a:t>
                      </a:r>
                    </a:p>
                    <a:p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425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Lower San Joaquin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Lower San Joaquin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34</a:t>
                      </a:r>
                    </a:p>
                    <a:p>
                      <a:r>
                        <a:rPr lang="en-US" sz="1200" dirty="0"/>
                        <a:t>41</a:t>
                      </a:r>
                    </a:p>
                    <a:p>
                      <a:r>
                        <a:rPr lang="en-US" sz="1200" dirty="0"/>
                        <a:t>46</a:t>
                      </a:r>
                    </a:p>
                    <a:p>
                      <a:r>
                        <a:rPr lang="en-US" sz="1200" dirty="0"/>
                        <a:t>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34</a:t>
                      </a:r>
                    </a:p>
                    <a:p>
                      <a:r>
                        <a:rPr lang="en-US" sz="1200" dirty="0"/>
                        <a:t>41</a:t>
                      </a:r>
                    </a:p>
                    <a:p>
                      <a:r>
                        <a:rPr lang="en-US" sz="1200" dirty="0"/>
                        <a:t>-</a:t>
                      </a:r>
                    </a:p>
                    <a:p>
                      <a:r>
                        <a:rPr lang="en-US" sz="1200" dirty="0"/>
                        <a:t>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906</a:t>
                      </a:r>
                    </a:p>
                    <a:p>
                      <a:r>
                        <a:rPr lang="en-US" sz="1200" dirty="0"/>
                        <a:t>-</a:t>
                      </a:r>
                    </a:p>
                    <a:p>
                      <a:r>
                        <a:rPr lang="en-US" sz="1200" dirty="0"/>
                        <a:t>804</a:t>
                      </a:r>
                    </a:p>
                    <a:p>
                      <a:r>
                        <a:rPr lang="en-US" sz="1200" dirty="0"/>
                        <a:t>809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95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Lower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Lower Sacramento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465</a:t>
                      </a:r>
                    </a:p>
                    <a:p>
                      <a:r>
                        <a:rPr lang="en-US" sz="1200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465</a:t>
                      </a:r>
                    </a:p>
                    <a:p>
                      <a:r>
                        <a:rPr lang="en-US" sz="1200" dirty="0"/>
                        <a:t>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513</a:t>
                      </a:r>
                    </a:p>
                    <a:p>
                      <a:r>
                        <a:rPr lang="en-US" sz="1200" dirty="0"/>
                        <a:t>706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531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South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South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29</a:t>
                      </a:r>
                    </a:p>
                    <a:p>
                      <a:r>
                        <a:rPr lang="en-US" sz="1200" dirty="0"/>
                        <a:t>86</a:t>
                      </a:r>
                    </a:p>
                    <a:p>
                      <a:r>
                        <a:rPr lang="en-US" sz="1200" dirty="0"/>
                        <a:t>99</a:t>
                      </a:r>
                    </a:p>
                    <a:p>
                      <a:r>
                        <a:rPr lang="en-US" sz="1200" dirty="0"/>
                        <a:t>225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</a:t>
                      </a:r>
                    </a:p>
                    <a:p>
                      <a:r>
                        <a:rPr lang="en-US" sz="1200" dirty="0"/>
                        <a:t>86</a:t>
                      </a:r>
                    </a:p>
                    <a:p>
                      <a:r>
                        <a:rPr lang="en-US" sz="1200" dirty="0"/>
                        <a:t>99</a:t>
                      </a:r>
                    </a:p>
                    <a:p>
                      <a:r>
                        <a:rPr lang="en-US" sz="12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910</a:t>
                      </a:r>
                    </a:p>
                    <a:p>
                      <a:r>
                        <a:rPr lang="en-US" sz="1200" dirty="0"/>
                        <a:t>915</a:t>
                      </a:r>
                    </a:p>
                    <a:p>
                      <a:r>
                        <a:rPr lang="en-US" sz="1200" dirty="0"/>
                        <a:t>902</a:t>
                      </a:r>
                    </a:p>
                    <a:p>
                      <a:r>
                        <a:rPr lang="en-US" sz="1200" dirty="0"/>
                        <a:t>901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411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Suisun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Suisun Bay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Suisun Marsh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329</a:t>
                      </a:r>
                    </a:p>
                    <a:p>
                      <a:r>
                        <a:rPr lang="en-US" sz="1200" dirty="0"/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-</a:t>
                      </a:r>
                    </a:p>
                    <a:p>
                      <a:r>
                        <a:rPr lang="en-US" sz="1200" dirty="0"/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501</a:t>
                      </a:r>
                    </a:p>
                    <a:p>
                      <a:r>
                        <a:rPr lang="en-US" sz="1200" dirty="0"/>
                        <a:t>610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005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Western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Western 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94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489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70B8-BDD9-1574-29CE-D31C6A4D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9A7848-56CB-CACD-CFD0-3E2704787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9" y="430571"/>
            <a:ext cx="4398645" cy="6222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8EB825-70FF-BF9E-2795-F0F6AD99F8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72" y="430572"/>
            <a:ext cx="4398645" cy="621792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891961-2F15-7324-EC2B-C3B46A509E26}"/>
              </a:ext>
            </a:extLst>
          </p:cNvPr>
          <p:cNvSpPr txBox="1"/>
          <p:nvPr/>
        </p:nvSpPr>
        <p:spPr>
          <a:xfrm>
            <a:off x="2062196" y="0"/>
            <a:ext cx="167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Previous 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8087F7-BFC1-F465-6E1C-1839AB9F53DF}"/>
              </a:ext>
            </a:extLst>
          </p:cNvPr>
          <p:cNvSpPr txBox="1"/>
          <p:nvPr/>
        </p:nvSpPr>
        <p:spPr>
          <a:xfrm>
            <a:off x="7698712" y="0"/>
            <a:ext cx="1172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New MAP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82606A-2093-321B-4C0A-686EF74981FB}"/>
              </a:ext>
            </a:extLst>
          </p:cNvPr>
          <p:cNvSpPr/>
          <p:nvPr/>
        </p:nvSpPr>
        <p:spPr>
          <a:xfrm>
            <a:off x="3868969" y="3276217"/>
            <a:ext cx="1134959" cy="1213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3ACA9B5-5CDB-C6B9-C718-A043C12A28EB}"/>
              </a:ext>
            </a:extLst>
          </p:cNvPr>
          <p:cNvSpPr/>
          <p:nvPr/>
        </p:nvSpPr>
        <p:spPr>
          <a:xfrm>
            <a:off x="8983942" y="3276216"/>
            <a:ext cx="1134959" cy="12130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35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32500-8C96-2FA7-4860-3D730824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824CF70-2C0C-B020-FC00-5E8653FB4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5152"/>
          <a:stretch>
            <a:fillRect/>
          </a:stretch>
        </p:blipFill>
        <p:spPr bwMode="auto">
          <a:xfrm>
            <a:off x="6095999" y="430571"/>
            <a:ext cx="4398645" cy="465762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46F8D51-3830-8AA8-0E1B-910069028360}"/>
              </a:ext>
            </a:extLst>
          </p:cNvPr>
          <p:cNvSpPr/>
          <p:nvPr/>
        </p:nvSpPr>
        <p:spPr>
          <a:xfrm>
            <a:off x="5174250" y="2988302"/>
            <a:ext cx="1463040" cy="1463040"/>
          </a:xfrm>
          <a:prstGeom prst="ellipse">
            <a:avLst/>
          </a:prstGeom>
          <a:solidFill>
            <a:srgbClr val="B1BFFE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19.4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ECDBD6-4C6B-D021-DEB9-B94B421E5F07}"/>
              </a:ext>
            </a:extLst>
          </p:cNvPr>
          <p:cNvSpPr/>
          <p:nvPr/>
        </p:nvSpPr>
        <p:spPr>
          <a:xfrm>
            <a:off x="6763519" y="3034041"/>
            <a:ext cx="822960" cy="822960"/>
          </a:xfrm>
          <a:prstGeom prst="ellipse">
            <a:avLst/>
          </a:prstGeom>
          <a:solidFill>
            <a:srgbClr val="FDEDCB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11.0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03D14F8-B2FF-6FAD-9BB7-96EB37ABD665}"/>
              </a:ext>
            </a:extLst>
          </p:cNvPr>
          <p:cNvSpPr/>
          <p:nvPr/>
        </p:nvSpPr>
        <p:spPr>
          <a:xfrm>
            <a:off x="8185501" y="3628925"/>
            <a:ext cx="18288" cy="18288"/>
          </a:xfrm>
          <a:prstGeom prst="ellipse">
            <a:avLst/>
          </a:prstGeom>
          <a:solidFill>
            <a:srgbClr val="FDC2BE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CEA29A0-4F67-A04E-B5EE-95FB499A0246}"/>
              </a:ext>
            </a:extLst>
          </p:cNvPr>
          <p:cNvSpPr/>
          <p:nvPr/>
        </p:nvSpPr>
        <p:spPr>
          <a:xfrm>
            <a:off x="8258745" y="3820425"/>
            <a:ext cx="36576" cy="36576"/>
          </a:xfrm>
          <a:prstGeom prst="ellipse">
            <a:avLst/>
          </a:prstGeom>
          <a:solidFill>
            <a:srgbClr val="B8E6FD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BDF36E-36E2-BFDE-E885-EE8C073B182D}"/>
              </a:ext>
            </a:extLst>
          </p:cNvPr>
          <p:cNvSpPr txBox="1"/>
          <p:nvPr/>
        </p:nvSpPr>
        <p:spPr>
          <a:xfrm>
            <a:off x="8526016" y="243345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C1A7F5-D449-C7F3-B08D-144ECBF45109}"/>
              </a:ext>
            </a:extLst>
          </p:cNvPr>
          <p:cNvSpPr txBox="1"/>
          <p:nvPr/>
        </p:nvSpPr>
        <p:spPr>
          <a:xfrm>
            <a:off x="9120868" y="298830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DD6CB6-0E77-60B1-2B80-1992EB2A86A8}"/>
              </a:ext>
            </a:extLst>
          </p:cNvPr>
          <p:cNvSpPr txBox="1"/>
          <p:nvPr/>
        </p:nvSpPr>
        <p:spPr>
          <a:xfrm>
            <a:off x="8866828" y="382042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F51BBE-7710-7DE0-883C-1D7CE79CFDD4}"/>
              </a:ext>
            </a:extLst>
          </p:cNvPr>
          <p:cNvCxnSpPr>
            <a:cxnSpLocks/>
          </p:cNvCxnSpPr>
          <p:nvPr/>
        </p:nvCxnSpPr>
        <p:spPr>
          <a:xfrm flipH="1">
            <a:off x="7928983" y="3643114"/>
            <a:ext cx="273203" cy="39035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1AAA3ED-A687-5C01-DC7E-DE4D8FF7E758}"/>
              </a:ext>
            </a:extLst>
          </p:cNvPr>
          <p:cNvCxnSpPr>
            <a:cxnSpLocks/>
          </p:cNvCxnSpPr>
          <p:nvPr/>
        </p:nvCxnSpPr>
        <p:spPr>
          <a:xfrm flipH="1">
            <a:off x="8026238" y="3850416"/>
            <a:ext cx="250795" cy="56083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60C178E-EB95-B154-956A-5E0333BCDE7C}"/>
              </a:ext>
            </a:extLst>
          </p:cNvPr>
          <p:cNvSpPr txBox="1"/>
          <p:nvPr/>
        </p:nvSpPr>
        <p:spPr>
          <a:xfrm>
            <a:off x="7490256" y="3923530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AEDDE3-401A-2064-B91B-47B10E9A6DB0}"/>
              </a:ext>
            </a:extLst>
          </p:cNvPr>
          <p:cNvSpPr txBox="1"/>
          <p:nvPr/>
        </p:nvSpPr>
        <p:spPr>
          <a:xfrm>
            <a:off x="7770825" y="437616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0.4</a:t>
            </a:r>
          </a:p>
        </p:txBody>
      </p:sp>
    </p:spTree>
    <p:extLst>
      <p:ext uri="{BB962C8B-B14F-4D97-AF65-F5344CB8AC3E}">
        <p14:creationId xmlns:p14="http://schemas.microsoft.com/office/powerpoint/2010/main" val="2449047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627</Words>
  <Application>Microsoft Office PowerPoint</Application>
  <PresentationFormat>Widescreen</PresentationFormat>
  <Paragraphs>451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Witt, Adam</dc:creator>
  <cp:lastModifiedBy>Witt, Adam</cp:lastModifiedBy>
  <cp:revision>11</cp:revision>
  <dcterms:created xsi:type="dcterms:W3CDTF">2026-01-27T00:17:09Z</dcterms:created>
  <dcterms:modified xsi:type="dcterms:W3CDTF">2026-02-05T18:13:40Z</dcterms:modified>
</cp:coreProperties>
</file>